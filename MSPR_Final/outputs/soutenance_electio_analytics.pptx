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39C12"/>
                </a:solidFill>
              </a:rPr>
              <a:t>ELECTIO-ANALYTICS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Prédiction des Résultats Électoraux
en Nouvelle-Aquitaine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6EAF8"/>
                </a:solidFill>
              </a:rPr>
              <a:t>Preuve de Concept (POC) — MSPR TPRE813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AF8"/>
                </a:solidFill>
              </a:rPr>
              <a:t>Modèle XGBoost · 83% Accuracy · 127 260 enregistrements · 12 départements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Équipe Data Science |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Contexte &amp;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Electio-Analytics — Validation de l'approche prédictive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Contexte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68580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▸  La start-up Electio-Analytics souhaite prédire les résultats électoraux à partir d'indicateurs socio-économiques publics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▸  Périmètre : Nouvelle-Aquitaine — 12 départements, 127 260 enregistrements communaux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▸  Données sources : INSEE 2016/2020, résultats élections 2012 &amp; 2017, indicateurs sécurité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▸  Livrable : pipeline ETL + modèle ML + dashboard de visualisation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▸  Objectif d'accuracy : ≥ 80% — Résultat obtenu : 83,07%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463040"/>
            <a:ext cx="4114800" cy="4114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Résultat clé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01168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Prédiction 2022 :
NOUVELLE-AQUITAINE → MACRON
Résultat réel :
MACRON [OK]
Confiance : 88,58%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Justification du Choix Géographique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Nouvelle-Aquitaine — Critères de sélection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1430000" cy="7772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276"/>
                </a:solidFill>
              </a:rPr>
              <a:t>✓  Disponibilité des données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087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INSEE fournit des données exhaustives à l'échelle communale pour cette région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77440"/>
            <a:ext cx="114300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276"/>
                </a:solidFill>
              </a:rPr>
              <a:t>✓  Représentativité politique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231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11 dép. Macron + 1 dép. Le Pen → diversité pour entraîner le modèle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91840"/>
            <a:ext cx="11430000" cy="7772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276"/>
                </a:solidFill>
              </a:rPr>
              <a:t>✓  Volumétrie exploitable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375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127 260 enregistrements — suffisant sans être excessif pour un POC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06240"/>
            <a:ext cx="114300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519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276"/>
                </a:solidFill>
              </a:rPr>
              <a:t>✓  Historique disponible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519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Résultats électoraux 2012 et 2017 accessibles en open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20640"/>
            <a:ext cx="11430000" cy="7772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663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276"/>
                </a:solidFill>
              </a:rPr>
              <a:t>✓  Diversité socio-éco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1663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Métropole (Bordeaux), zones rurales (Creuse), côtes, agriculture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Pipeline ETL — Architecture des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Flux de données de la collecte à la prédiction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103120" cy="4114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1.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Élections 2012/2017
INSEE 2016/2020
Sécurité RALFSS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80B9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39" y="1463040"/>
            <a:ext cx="2103120" cy="4114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2.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2103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run_prep.py
Chargement CSV/XLS/XLSX
Encodage UTF-8/Latin1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80B9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59" y="1463040"/>
            <a:ext cx="2103120" cy="4114800"/>
          </a:xfrm>
          <a:prstGeom prst="rect">
            <a:avLst/>
          </a:prstGeom>
          <a:solidFill>
            <a:srgbClr val="1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199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3.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199" y="2103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Standardisation CODGEO
Calcul deltas 2016→2020
Nettoyage &amp; normalisation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80B9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79" y="1463040"/>
            <a:ext cx="2103120" cy="4114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4. Chargement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2103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NoSQL : MongoDB
+ TinyDB (fallback)
Export CSV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599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80B9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463040"/>
            <a:ext cx="2103120" cy="4114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5. ML &amp; Prédiction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103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XGBoost Classifier
83,07% accuracy
Export 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F8C8D"/>
                </a:solidFill>
              </a:rPr>
              <a:t>Tables NoSQL : raw_data (données brutes) · final_data (données transformées) · MongoDB / TinyDB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Modèle Conceptuel de Données (MCD)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Structure des entités et relations — Electio-Analytics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3657600" cy="3657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3657600" cy="1554480"/>
          </a:xfrm>
          <a:prstGeom prst="rect">
            <a:avLst/>
          </a:prstGeom>
          <a:solidFill>
            <a:srgbClr val="D6EA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COMMUNE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🔑 codgeo (PK)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1284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nom_commune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5973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code_dept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0662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region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3657600" cy="3657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206240"/>
            <a:ext cx="3657600" cy="1554480"/>
          </a:xfrm>
          <a:prstGeom prst="rect">
            <a:avLst/>
          </a:prstGeom>
          <a:solidFill>
            <a:srgbClr val="D6EA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840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5196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🔑 id_election (PK)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49884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5276"/>
                </a:solidFill>
              </a:rPr>
              <a:t>  ↳ codgeo (FK)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4573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annee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99262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candidat_gagnant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239512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bloc_politique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48640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pct_voix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1554480"/>
            <a:ext cx="3657600" cy="3657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1920240"/>
            <a:ext cx="3657600" cy="1554480"/>
          </a:xfrm>
          <a:prstGeom prst="rect">
            <a:avLst/>
          </a:prstGeom>
          <a:solidFill>
            <a:srgbClr val="D6EA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INDICATEUR
SOCIO-ECO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196596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🔑 id_indic (PK)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21284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5276"/>
                </a:solidFill>
              </a:rPr>
              <a:t>  ↳ codgeo (FK)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45973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annee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70662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population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2953512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emploi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20040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revenus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44728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delinquance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840480"/>
            <a:ext cx="3657600" cy="3657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4206240"/>
            <a:ext cx="3657600" cy="1554480"/>
          </a:xfrm>
          <a:prstGeom prst="rect">
            <a:avLst/>
          </a:prstGeom>
          <a:solidFill>
            <a:srgbClr val="D6EA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3840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DELTA
INDICATEUR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25196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🔑 id_delta (PK)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49884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5276"/>
                </a:solidFill>
              </a:rPr>
              <a:t>  ↳ codgeo (FK)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74573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delta_population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99262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delta_emploi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239512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delta_revenus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48640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etat_eco (ENUM)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2834640"/>
            <a:ext cx="3657600" cy="3657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0" y="3200400"/>
            <a:ext cx="3657600" cy="1554480"/>
          </a:xfrm>
          <a:prstGeom prst="rect">
            <a:avLst/>
          </a:prstGeom>
          <a:solidFill>
            <a:srgbClr val="D6EAF8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PREDICTION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24612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39C12"/>
                </a:solidFill>
              </a:rPr>
              <a:t>🔑 id_pred (PK)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49300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5276"/>
                </a:solidFill>
              </a:rPr>
              <a:t>  ↳ codgeo (FK)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73989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annee_cible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398678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scenario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233672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proba_macron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48056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proba_lepen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72744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  ↳ confidence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F8C8D"/>
                </a:solidFill>
              </a:rPr>
              <a:t>Voir outputs/mcd_schema.png pour le schéma visuel complet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Comparaison des Modèles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Apprentissage supervisé — Sélection du meilleur algorithme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210312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813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463040"/>
            <a:ext cx="210312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813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463040"/>
            <a:ext cx="2103120" cy="4114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4813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CV (5-fold)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0" cy="731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920240"/>
            <a:ext cx="2103120" cy="731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920240"/>
            <a:ext cx="2103120" cy="731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920240"/>
            <a:ext cx="2103120" cy="731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920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Régression Logistique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920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72,3%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20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72,0%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920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72,1%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43200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743200"/>
            <a:ext cx="21031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2743200"/>
            <a:ext cx="21031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0" y="2743200"/>
            <a:ext cx="21031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43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SVM (RBF)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75,1%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74,8%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743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75,0%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66160"/>
            <a:ext cx="3657600" cy="731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3566160"/>
            <a:ext cx="2103120" cy="731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3566160"/>
            <a:ext cx="2103120" cy="731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0" y="3566160"/>
            <a:ext cx="2103120" cy="731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566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Random Forest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566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80,4%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566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80,1%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5661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</a:rPr>
              <a:t>80,3%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389120"/>
            <a:ext cx="36576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4389120"/>
            <a:ext cx="210312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92240" y="4389120"/>
            <a:ext cx="210312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86800" y="4389120"/>
            <a:ext cx="210312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3891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XGBoost 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4389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83,07%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389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83,02%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4389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83,16%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★ XGBoost retenu : meilleur compromis accuracy / généralisation (écart CV/test = 0,10%)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Résultats du Modèle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Métriques de performance — Jeu de test 20% (25 452 enregistrements)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011680" cy="1463040"/>
          </a:xfrm>
          <a:prstGeom prst="rect">
            <a:avLst/>
          </a:prstGeom>
          <a:solidFill>
            <a:srgbClr val="1A527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83,07%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</a:rPr>
              <a:t>Accuracy
(jeu de test)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554480"/>
            <a:ext cx="2011680" cy="1463040"/>
          </a:xfrm>
          <a:prstGeom prst="rect">
            <a:avLst/>
          </a:prstGeom>
          <a:solidFill>
            <a:srgbClr val="2980B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82,99%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</a:rPr>
              <a:t>Précision
(pondérée)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554480"/>
            <a:ext cx="2011680" cy="1463040"/>
          </a:xfrm>
          <a:prstGeom prst="rect">
            <a:avLst/>
          </a:prstGeom>
          <a:solidFill>
            <a:srgbClr val="1A8C6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83,07%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</a:rPr>
              <a:t>Rappel
(pondéré)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554480"/>
            <a:ext cx="2011680" cy="1463040"/>
          </a:xfrm>
          <a:prstGeom prst="rect">
            <a:avLst/>
          </a:prstGeom>
          <a:solidFill>
            <a:srgbClr val="8E44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83,02%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</a:rPr>
              <a:t>F1-Score
(pondéré)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1554480"/>
            <a:ext cx="2011680" cy="1463040"/>
          </a:xfrm>
          <a:prstGeom prst="rect">
            <a:avLst/>
          </a:prstGeom>
          <a:solidFill>
            <a:srgbClr val="F39C1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645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83,16%
±0,20%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AF8"/>
                </a:solidFill>
              </a:rPr>
              <a:t>Cross-Val.
5-fold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Prédictions géographiques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39"/>
            <a:ext cx="11247120" cy="6858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49039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B34"/>
                </a:solidFill>
              </a:rPr>
              <a:t>[OK]  Niveau Régional — NOUVELLE-AQUITAINE : MACRON  (conf. 88,58%, état éco. : Stable (76%))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26279"/>
            <a:ext cx="11247120" cy="6858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526279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B34"/>
                </a:solidFill>
              </a:rPr>
              <a:t>[OK]  Niveau Dep. (11/12) — Ex. DEUX-SEVRES : MACRON  (conf. 92,97%, état éco. : Croissance)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03520"/>
            <a:ext cx="11247120" cy="685800"/>
          </a:xfrm>
          <a:prstGeom prst="rect">
            <a:avLst/>
          </a:prstGeom>
          <a:solidFill>
            <a:srgbClr val="FA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B34"/>
                </a:solidFill>
              </a:rPr>
              <a:t>[X]  Cas limite — LOT-ET-GARONNE : MACRON predit / LE PEN reel  (conf. 56,80%, état éco. : Declin)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276"/>
                </a:solidFill>
              </a:rPr>
              <a:t>Précision départementale globale : 91,7%  (11/12 départements corrects)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Indicateur le Plus Corrélé aux Résultats Électoraux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Feature importance XGBoost — Analyse des facteurs prédictifs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536192"/>
            <a:ext cx="457200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delta_population — Variation de la population totale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15.95%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048256"/>
            <a:ext cx="3428283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97510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delta_pop_active_1564 — Dynamique population active 15-64 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1723" y="19751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11.96%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560320"/>
            <a:ext cx="2989715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48716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delta_actifs_1564 — Évolution des personnes actives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3155" y="24871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10.43%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072384"/>
            <a:ext cx="2834926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9992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delta_logements — Volume de logements (attractivité)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366" y="299923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9.89%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584448"/>
            <a:ext cx="2703069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5112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delta_logements_vacants — Logements vacants (déclin territorial)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6509" y="351129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9.43%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4096512"/>
            <a:ext cx="2353361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023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delta_revenus_median — Revenus médians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6801" y="4023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8.21%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608576"/>
            <a:ext cx="2161309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53542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delta_emploi_salarie — Emploi salarié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4749" y="453542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7.54%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5120640"/>
            <a:ext cx="1974989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04748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delta_taux_chomage — Taux de chômage (→ vote protestataire)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429" y="50474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6.89%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5632704"/>
            <a:ext cx="1524955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5595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delta_delinquance — Taux de délinquance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8395" y="55595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5.32%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6144768"/>
            <a:ext cx="1198179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07161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delta_diplome_sup — Niveau de diplôme supérieur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1619" y="607161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</a:rPr>
              <a:t>4.18%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276"/>
                </a:solidFill>
              </a:rPr>
              <a:t>Conclusion : La variation démographique (delta_population, +15,95%) est le meilleur prédicteur.
Zones en croissance → vote Centre/Macron   |   Zones en déclin → vote protestataire/RN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Scénarios de Prédiction à 1, 2 et 3 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Projections 2023–2025 — Trois scénarios socio-économiques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749039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8132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Scénario Optimiste
(Croissance économique)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3749039" cy="36576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Dérive : +1,2% / 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Gironde maintient &gt;90%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Lot-et-Garonne remonte à ~65%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Pas de basculement prévu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Région stable → Macron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463040"/>
            <a:ext cx="3749039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148132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Scénario Central
(Statu quo)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920240"/>
            <a:ext cx="3749039" cy="36576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39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80B9"/>
                </a:solidFill>
              </a:rPr>
              <a:t>Dérive : -0,3% / 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2377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Légère érosion du centre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31089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Lot-et-Garonne reste fragile (~55%)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38404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11/12 dép. restent Macron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39" y="45720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Risque limité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463040"/>
            <a:ext cx="3749039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48132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Scénario Pessimiste
(Crise économique)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920240"/>
            <a:ext cx="3749039" cy="36576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Dérive : -2,5% / 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377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Recul significatif du centre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1089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Lot-et-Garonne bascule Le 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8404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Creuse et Corrèze fragilisées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720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▸  Région passe à ~75%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F8C8D"/>
                </a:solidFill>
              </a:rPr>
              <a:t>Voir outputs/predictions_temporelles.png · predictions_heatmap_scenarios.png · predictions_distribution_y3.png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Réponses aux Questions Analytiques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Apprentissage supervisé · Accuracy · Corrélations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1430000" cy="3657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Q1 — Donnée la plus corrélée aux élections ?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11430000" cy="12344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La variation de population (delta_population, r=+0,52, importance=15,95%) est la plus
corrélée. Les zones en croissance démographique votent Centre ; les zones en déclin votent 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11430000" cy="365760"/>
          </a:xfrm>
          <a:prstGeom prst="rect">
            <a:avLst/>
          </a:prstGeom>
          <a:solidFill>
            <a:srgbClr val="1A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Q2 — Définir l'apprentissage supervisé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520440"/>
            <a:ext cx="114300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538728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Méthode ML où l'algorithme apprend depuis des exemples étiquetés (X=indicateurs, y=vote).
Entraînement sur 80% (101 808 lignes) → généralisation → évaluation sur 20% (25 452 lignes).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846320"/>
            <a:ext cx="1143000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Q3 — Définir l'accuracy (degré de précision)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212080"/>
            <a:ext cx="11430000" cy="12344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230368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Accuracy = prédictions correctes / total prédictions.
Notre modèle : 83,07% sur le jeu de test · 91,7% au niveau départemental · CV 83,16% ±0,20%.
Complété par : Précision (82,99%), Rappel (83,07%), F1-Score (83,02%).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Livrables Produits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AF8"/>
                </a:solidFill>
              </a:rPr>
              <a:t>Conformité aux exigences Electio-Analytics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430000" cy="502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[OK]  Dossier de synthèse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rapport_synthese.md — justification, MCD, démarche, résultats, questions analytiques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659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[OK]  Jeu de données nettoyé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9659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127 260 enregistrements · export CSV · NoSQL MongoDB/TinyDB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14600"/>
            <a:ext cx="11430000" cy="502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[OK]  Code propre et commenté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514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run_prep.py (ETL) · create_bdd.py · ML notebook · Flask app · Chemins portables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63239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6323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[OK]  Visualisations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06323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5 types : feature importance, heatmap corrélations, histogrammes, carte, scatter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11880"/>
            <a:ext cx="11430000" cy="502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118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[OK]  Modèle prédictif supervisé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611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XGBoost · 83% accuracy · train/test split · cross-validation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6052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60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[OK]  Prédictions temporelles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1605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Scénarios 1, 2, 3 ans avec courbes, heat-maps, distributions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709159"/>
            <a:ext cx="11430000" cy="502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0915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[OK]  MCD (schéma conceptuel)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70915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mcd.py → mcd_schema.png · 5 entités · relations 1-N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25780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257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[OK]  Dashboard interactif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2578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Flask + HTML/JS · API /api/results · predictions.json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806440"/>
            <a:ext cx="11430000" cy="502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806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76"/>
                </a:solidFill>
              </a:rPr>
              <a:t>[OK]  Support de soutenance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806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Ce fichier PPTX — 11 slides · synthèse complète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Conclusion &amp; 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Le POC valide l'approche : prédiction électorale possible avec &gt;80% d'accuracy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La variation démographique est le prédicteur le plus puissant (15,95%)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La Nouvelle-Aquitaine reste un bastion Macron à court terme (2023-2025) dans les 3 scénarios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Lot-et-Garonne est la zone à risque de basculement (scénario pessimiste : Le Pen)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Recommandations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663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→  Affiner à l'échelle cantonale pour un meilleur ciblage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0749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→  Intégrer les données de participation (abstention = signal clé)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4864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→  Mettre à jour le pipeline dès la publication des données INSEE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897879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AF8"/>
                </a:solidFill>
              </a:rPr>
              <a:t>→  Déployer le dashboard Flask en production sur un serveur Linux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63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MSPR TPRE813 — Equipe Data Science | Juin 2026 | Electio-Analytics 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